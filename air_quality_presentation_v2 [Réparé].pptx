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7102475" cy="102330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08" autoAdjust="0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9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79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10944" tIns="55472" rIns="110944" bIns="5547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10944" tIns="55472" rIns="110944" bIns="5547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2D5A3D">
              <a:alpha val="45000"/>
            </a:srgbClr>
          </a:solidFill>
          <a:ln w="12700">
            <a:solidFill>
              <a:srgbClr val="2D5A3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3D7A52">
              <a:alpha val="35000"/>
            </a:srgbClr>
          </a:solidFill>
          <a:ln w="12700">
            <a:solidFill>
              <a:srgbClr val="3D7A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2D5A3D">
              <a:alpha val="40000"/>
            </a:srgbClr>
          </a:solidFill>
          <a:ln w="12700">
            <a:solidFill>
              <a:srgbClr val="2D5A3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754880"/>
            <a:ext cx="8942832" cy="3886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4745736"/>
            <a:ext cx="8942832" cy="54864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2651760" cy="384048"/>
          </a:xfrm>
          <a:prstGeom prst="roundRect">
            <a:avLst>
              <a:gd name="adj" fmla="val 35714"/>
            </a:avLst>
          </a:prstGeom>
          <a:solidFill>
            <a:srgbClr val="3D7A52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Air Quality  |  9 357 mesures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Qualite de l'air urbain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de sources de pollution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ACP, ICA et Clustering non supervise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832  |  Annee universitaire 2025-2026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Donnees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43891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E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68680"/>
            <a:ext cx="4389120" cy="347472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68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probleme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298448"/>
            <a:ext cx="4114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capteur urbain a un carrefour en Italie mesure un melange de signaux de sources differentes.
</a:t>
            </a:r>
            <a:r>
              <a:rPr lang="en-US" sz="1200" b="1" dirty="0">
                <a:solidFill>
                  <a:srgbClr val="3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latentes identifiees 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routier  (CO, Benzene, NOx)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Chauffage urbain  (pics hivernaux)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photochimiques  (Ozone)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demeler ces sources et detecter les episodes de pollution extreme.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896112"/>
            <a:ext cx="1874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D7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896112"/>
            <a:ext cx="1874520" cy="228600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896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horaires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74920" y="11247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9 357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68312" y="896112"/>
            <a:ext cx="1874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5A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68312" y="896112"/>
            <a:ext cx="1874520" cy="2286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896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2004 → Avr 2005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68312" y="11247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mois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74920" y="2148840"/>
            <a:ext cx="1874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D7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2148840"/>
            <a:ext cx="1874520" cy="228600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1488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polluants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068312" y="2148840"/>
            <a:ext cx="1874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5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68312" y="2148840"/>
            <a:ext cx="1874520" cy="228600"/>
          </a:xfrm>
          <a:prstGeom prst="rect">
            <a:avLst/>
          </a:prstGeom>
          <a:solidFill>
            <a:srgbClr val="7D6548"/>
          </a:solidFill>
          <a:ln w="12700">
            <a:solidFill>
              <a:srgbClr val="7D65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21488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NMHC manquante (supp.)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68312" y="23774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90.2%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074920" y="3401568"/>
            <a:ext cx="1874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3401568"/>
            <a:ext cx="187452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4015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valeurs manquantes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74920" y="363016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-200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068312" y="3401568"/>
            <a:ext cx="1874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2A8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68312" y="3401568"/>
            <a:ext cx="1874520" cy="228600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34015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apres imputation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68312" y="363016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A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: Distributions, Correlations &amp; Saisonnalite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Distributions des polluants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5029200" cy="1691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0" y="804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Matrice de correlation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078992"/>
            <a:ext cx="3291840" cy="1691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" y="2852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Saisonnalite : profil horaire (pics 8h-9h / 18h-20h) + profil mensuel (pic hivernal Oct-Dec)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127248"/>
            <a:ext cx="8595360" cy="15727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74320" y="2852928"/>
            <a:ext cx="8595360" cy="0"/>
          </a:xfrm>
          <a:prstGeom prst="roundRect">
            <a:avLst>
              <a:gd name="adj" fmla="val Infinity"/>
            </a:avLst>
          </a:prstGeom>
          <a:solidFill>
            <a:srgbClr val="B8E4CC"/>
          </a:solidFill>
          <a:ln w="12700">
            <a:solidFill>
              <a:srgbClr val="B8E4C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 de dimension : ACP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 plot &amp; Loadings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4846320" cy="2194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804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Biplot ACP (PC1 vs PC2)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078992"/>
            <a:ext cx="3520440" cy="2194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401568"/>
            <a:ext cx="8595360" cy="1325880"/>
          </a:xfrm>
          <a:prstGeom prst="rect">
            <a:avLst/>
          </a:prstGeom>
          <a:solidFill>
            <a:srgbClr val="E8F5EE"/>
          </a:solidFill>
          <a:ln w="12700">
            <a:solidFill>
              <a:srgbClr val="B8E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401568"/>
            <a:ext cx="109728" cy="1325880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45643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(74.2%)
</a:t>
            </a: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general de pollution : CO, Benzene, NMHC charges positivement. C'est le 'niveau ambiant'.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37560" y="345643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(12.8%)
</a:t>
            </a: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 PT08.S4(NO2) en haut vs NOx/PT08.S3 en bas — separation ozone / trafic diesel.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72200" y="345643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composantes
</a:t>
            </a: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Suffisent pour expliquer 91.5% de la variance. Limite : PC1 ne separe pas les sources.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de sources : FastICA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ACP vs ICA : contributions des polluants aux composantes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5120640" cy="2057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23560" y="1078992"/>
            <a:ext cx="324612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52A8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078992"/>
            <a:ext cx="3246120" cy="347472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10789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: Kurtosis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1517904"/>
            <a:ext cx="3154680" cy="301752"/>
          </a:xfrm>
          <a:prstGeom prst="rect">
            <a:avLst/>
          </a:prstGeom>
          <a:solidFill>
            <a:srgbClr val="E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154533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NOx(GT)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88352" y="154533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1591056"/>
            <a:ext cx="155448" cy="155448"/>
          </a:xfrm>
          <a:prstGeom prst="ellipse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1837944"/>
            <a:ext cx="3154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42432" y="18653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CO(GT)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88352" y="18653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2.39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0" y="1911096"/>
            <a:ext cx="155448" cy="155448"/>
          </a:xfrm>
          <a:prstGeom prst="ellipse">
            <a:avLst/>
          </a:prstGeom>
          <a:solidFill>
            <a:srgbClr val="9AADA0"/>
          </a:solidFill>
          <a:ln w="12700">
            <a:solidFill>
              <a:srgbClr val="9AAD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157984"/>
            <a:ext cx="3154680" cy="301752"/>
          </a:xfrm>
          <a:prstGeom prst="rect">
            <a:avLst/>
          </a:prstGeom>
          <a:solidFill>
            <a:srgbClr val="E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218541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C6H6(GT)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88352" y="218541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0" y="2231136"/>
            <a:ext cx="155448" cy="155448"/>
          </a:xfrm>
          <a:prstGeom prst="ellipse">
            <a:avLst/>
          </a:prstGeom>
          <a:solidFill>
            <a:srgbClr val="9AADA0"/>
          </a:solidFill>
          <a:ln w="12700">
            <a:solidFill>
              <a:srgbClr val="9AAD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2478024"/>
            <a:ext cx="3154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250545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 (ICA)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88352" y="250545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2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229600" y="2551176"/>
            <a:ext cx="155448" cy="155448"/>
          </a:xfrm>
          <a:prstGeom prst="ellipse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2798064"/>
            <a:ext cx="3154680" cy="301752"/>
          </a:xfrm>
          <a:prstGeom prst="rect">
            <a:avLst/>
          </a:prstGeom>
          <a:solidFill>
            <a:srgbClr val="E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42432" y="282549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 (ICA)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88352" y="282549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29600" y="2871216"/>
            <a:ext cx="155448" cy="155448"/>
          </a:xfrm>
          <a:prstGeom prst="ellipse">
            <a:avLst/>
          </a:prstGeom>
          <a:solidFill>
            <a:srgbClr val="9AADA0"/>
          </a:solidFill>
          <a:ln w="12700">
            <a:solidFill>
              <a:srgbClr val="9AAD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32186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Espace ACP vs espace ICA</a:t>
            </a:r>
            <a:endParaRPr lang="en-US" sz="11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47288"/>
            <a:ext cx="5120640" cy="126187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62356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Heatmap polluants x ICA</a:t>
            </a:r>
            <a:endParaRPr lang="en-US" sz="11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447288"/>
            <a:ext cx="3246120" cy="1261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: K-Means (k = 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de k : methode du coude + silhouette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5029200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32120" y="8046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Matrice de confusion vs pseudo-labels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078992"/>
            <a:ext cx="3337560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108960"/>
            <a:ext cx="8595360" cy="1600200"/>
          </a:xfrm>
          <a:prstGeom prst="rect">
            <a:avLst/>
          </a:prstGeom>
          <a:solidFill>
            <a:srgbClr val="E8F5EE"/>
          </a:solidFill>
          <a:ln w="12700">
            <a:solidFill>
              <a:srgbClr val="B8E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108960"/>
            <a:ext cx="109728" cy="1600200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0.360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02920" y="3730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Silhouette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moderee mais coherente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319272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D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0.162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3319272" y="3730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vs pseudo-labels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19272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continues = frontieres floues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135624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3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6135624" y="3730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optimal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135624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+ silhouette concordants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d'anomalies : DBSCAN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k-NN distance plot (choix de epsilon)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4114800" cy="1554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17720" y="8046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temporelle des anomalies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078992"/>
            <a:ext cx="4251960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2743200"/>
            <a:ext cx="2057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2743200"/>
            <a:ext cx="20574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detectees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74320" y="30358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74320" y="3593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 / 9357 points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468880" y="2743200"/>
            <a:ext cx="2057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5A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468880" y="2743200"/>
            <a:ext cx="2057400" cy="2743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6888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adaptatif kNN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468880" y="30358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eps=0.173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2468880" y="3593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97e centile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63440" y="2743200"/>
            <a:ext cx="2057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D7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63440" y="2743200"/>
            <a:ext cx="2057400" cy="274320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6344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sur les anomalies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663440" y="30358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2.29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4663440" y="3593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moyenne normale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858000" y="2743200"/>
            <a:ext cx="20574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5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858000" y="2743200"/>
            <a:ext cx="2057400" cy="274320"/>
          </a:xfrm>
          <a:prstGeom prst="rect">
            <a:avLst/>
          </a:prstGeom>
          <a:solidFill>
            <a:srgbClr val="7D6548"/>
          </a:solidFill>
          <a:ln w="12700">
            <a:solidFill>
              <a:srgbClr val="7D654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5800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&amp; mois dominants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858000" y="30358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D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 / Dec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858000" y="3593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thermique + chauffage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74320" y="4251960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" y="427024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Decouverte : les anomalies ne correspondent pas au trafic routier (nul a 4h) mais a l'inversion thermique hivernale — l'air froid bloque les polluants au sol en decembre.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Visualisations : Clusters &amp; Serie temporelle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"/>
            <a:ext cx="438912" cy="438912"/>
          </a:xfrm>
          <a:prstGeom prst="ellipse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109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Mohamed Draoui  |  DATA 832  |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Clusters K-Means + anomalies DBSCAN (espace ICA)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8595360" cy="1737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2907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 temporelle CO(GT) annotee par cluster + anomalies DBSCAN (rouge)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82112"/>
            <a:ext cx="8595360" cy="1536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D5A3D">
              <a:alpha val="45000"/>
            </a:srgbClr>
          </a:solidFill>
          <a:ln w="12700">
            <a:solidFill>
              <a:srgbClr val="2D5A3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2D5A3D">
              <a:alpha val="40000"/>
            </a:srgbClr>
          </a:solidFill>
          <a:ln w="12700">
            <a:solidFill>
              <a:srgbClr val="2D5A3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critique &amp; 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850392"/>
            <a:ext cx="8412480" cy="45720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3886200" cy="347472"/>
          </a:xfrm>
          <a:prstGeom prst="rect">
            <a:avLst/>
          </a:prstGeom>
          <a:solidFill>
            <a:srgbClr val="3D7A52"/>
          </a:solidFill>
          <a:ln w="12700">
            <a:solidFill>
              <a:srgbClr val="3D7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 bien fonctionne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&gt; ACP pour isoler les sources physiques reelles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 detecte les inversions thermiques hivernales (4h, decembre) sans supervision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(etat general) + DBSCAN (crises) = vision complementaire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solidFill>
            <a:srgbClr val="7D6548"/>
          </a:solidFill>
          <a:ln w="12700">
            <a:solidFill>
              <a:srgbClr val="7D6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Perspectives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= motifs artificiels sur longues plages manquantes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suppose un melange lineaire instantane (delais chimiques negliges)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ARI=0.162 reflète la nature continue du phenomene, pas un echec algorithmique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8321040" cy="1417320"/>
          </a:xfrm>
          <a:prstGeom prst="rect">
            <a:avLst/>
          </a:prstGeom>
          <a:solidFill>
            <a:srgbClr val="2D5A3D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154680"/>
            <a:ext cx="91440" cy="1417320"/>
          </a:xfrm>
          <a:prstGeom prst="rect">
            <a:avLst/>
          </a:prstGeom>
          <a:solidFill>
            <a:srgbClr val="D4B54A"/>
          </a:solidFill>
          <a:ln w="12700">
            <a:solidFill>
              <a:srgbClr val="D4B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personnelle  </a:t>
            </a:r>
            <a:r>
              <a:rPr lang="en-US" sz="11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Suite a un empechement personnel, j'ai travaille avec une semaine en moins. Choix fait de prioriser la rigueur du pipeline de donnees et l'interpretation physique plutot que de multiplier les algorithmes. </a:t>
            </a:r>
            <a:r>
              <a:rPr lang="en-US" sz="1150" i="1" dirty="0">
                <a:solidFill>
                  <a:srgbClr val="9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plus de temps : UMAP pour la visualisation et KNN Imputer pour les valeurs manquantes.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1168" y="4828032"/>
            <a:ext cx="8942832" cy="32004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4818888"/>
            <a:ext cx="8942832" cy="54864"/>
          </a:xfrm>
          <a:prstGeom prst="rect">
            <a:avLst/>
          </a:prstGeom>
          <a:solidFill>
            <a:srgbClr val="52A870"/>
          </a:solidFill>
          <a:ln w="12700">
            <a:solidFill>
              <a:srgbClr val="52A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  |  Questions ?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653</Words>
  <Application>Microsoft Office PowerPoint</Application>
  <PresentationFormat>Affichage à l'écran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Qualite de l'air - DATA 832</dc:title>
  <dc:subject>PptxGenJS Presentation</dc:subject>
  <dc:creator>Anas Mohamed Draoui</dc:creator>
  <cp:lastModifiedBy>Mohamed-Anas Draoui</cp:lastModifiedBy>
  <cp:revision>1</cp:revision>
  <cp:lastPrinted>2026-03-25T09:58:36Z</cp:lastPrinted>
  <dcterms:created xsi:type="dcterms:W3CDTF">2026-03-25T09:52:45Z</dcterms:created>
  <dcterms:modified xsi:type="dcterms:W3CDTF">2026-03-25T11:12:49Z</dcterms:modified>
</cp:coreProperties>
</file>